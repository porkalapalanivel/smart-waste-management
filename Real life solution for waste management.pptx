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60" r:id="rId7"/>
    <p:sldId id="270" r:id="rId8"/>
    <p:sldId id="271" r:id="rId9"/>
    <p:sldId id="2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descr="关系图"/>
          <p:cNvPicPr>
            <a:picLocks noChangeAspect="1"/>
          </p:cNvPicPr>
          <p:nvPr/>
        </p:nvPicPr>
        <p:blipFill>
          <a:blip r:embed="rId2"/>
          <a:srcRect r="2528" b="10909"/>
          <a:stretch>
            <a:fillRect/>
          </a:stretch>
        </p:blipFill>
        <p:spPr>
          <a:xfrm>
            <a:off x="239184" y="692150"/>
            <a:ext cx="11885083" cy="6110288"/>
          </a:xfrm>
          <a:prstGeom prst="rect">
            <a:avLst/>
          </a:prstGeom>
          <a:noFill/>
          <a:ln w="9525">
            <a:noFill/>
          </a:ln>
        </p:spPr>
      </p:pic>
      <p:sp>
        <p:nvSpPr>
          <p:cNvPr id="10" name="Rectangle 7"/>
          <p:cNvSpPr>
            <a:spLocks noChangeArrowheads="1"/>
          </p:cNvSpPr>
          <p:nvPr/>
        </p:nvSpPr>
        <p:spPr bwMode="auto">
          <a:xfrm>
            <a:off x="2117" y="549275"/>
            <a:ext cx="12192000" cy="151130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2051" name="Rectangle 3"/>
          <p:cNvSpPr>
            <a:spLocks noChangeArrowheads="1"/>
          </p:cNvSpPr>
          <p:nvPr>
            <p:ph type="subTitle" idx="1"/>
          </p:nvPr>
        </p:nvSpPr>
        <p:spPr>
          <a:xfrm>
            <a:off x="2544233" y="2492375"/>
            <a:ext cx="7393517" cy="1222375"/>
          </a:xfrm>
        </p:spPr>
        <p:txBody>
          <a:bodyPr anchor="ctr"/>
          <a:lstStyle>
            <a:lvl1pPr marL="0" indent="0" algn="ctr">
              <a:buFontTx/>
              <a:buNone/>
              <a:defRPr/>
            </a:lvl1pPr>
          </a:lstStyle>
          <a:p>
            <a:pPr lvl="0"/>
            <a:r>
              <a:rPr lang="en-US" altLang="zh-CN" noProof="0" smtClean="0"/>
              <a:t>Click to edit Master subtitle style</a:t>
            </a:r>
            <a:endParaRPr lang="en-US" altLang="zh-CN" noProof="0" smtClean="0"/>
          </a:p>
        </p:txBody>
      </p:sp>
      <p:sp>
        <p:nvSpPr>
          <p:cNvPr id="2056" name="Rectangle 8"/>
          <p:cNvSpPr>
            <a:spLocks noChangeArrowheads="1"/>
          </p:cNvSpPr>
          <p:nvPr>
            <p:ph type="ctrTitle"/>
          </p:nvPr>
        </p:nvSpPr>
        <p:spPr>
          <a:xfrm>
            <a:off x="1007533" y="620713"/>
            <a:ext cx="10363200" cy="1470025"/>
          </a:xfrm>
        </p:spPr>
        <p:txBody>
          <a:bodyPr/>
          <a:lstStyle>
            <a:lvl1pPr>
              <a:defRPr sz="3600"/>
            </a:lvl1pPr>
          </a:lstStyle>
          <a:p>
            <a:pPr lvl="0"/>
            <a:r>
              <a:rPr lang="en-US" altLang="zh-CN" noProof="0" smtClean="0"/>
              <a:t>Click to edit Master title style</a:t>
            </a:r>
            <a:endParaRPr lang="en-US" altLang="zh-CN" noProof="0" smtClean="0"/>
          </a:p>
        </p:txBody>
      </p:sp>
      <p:sp>
        <p:nvSpPr>
          <p:cNvPr id="11" name="Rectangle 4"/>
          <p:cNvSpPr>
            <a:spLocks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2" name="Rectangle 5"/>
          <p:cNvSpPr>
            <a:spLocks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3" name="Rectangle 6"/>
          <p:cNvSpPr>
            <a:spLocks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ppt_x</p:attrName>
                                        </p:attrNameLst>
                                      </p:cBhvr>
                                      <p:tavLst>
                                        <p:tav tm="0">
                                          <p:val>
                                            <p:strVal val="#ppt_x-.2"/>
                                          </p:val>
                                        </p:tav>
                                        <p:tav tm="100000">
                                          <p:val>
                                            <p:strVal val="#ppt_x"/>
                                          </p:val>
                                        </p:tav>
                                      </p:tavLst>
                                    </p:anim>
                                    <p:anim calcmode="lin" valueType="num">
                                      <p:cBhvr>
                                        <p:cTn id="8"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auto">
          <a:xfrm>
            <a:off x="2117" y="333375"/>
            <a:ext cx="12192000" cy="100965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pic>
        <p:nvPicPr>
          <p:cNvPr id="1027" name="Picture 3" descr="关系图"/>
          <p:cNvPicPr>
            <a:picLocks noChangeAspect="1"/>
          </p:cNvPicPr>
          <p:nvPr/>
        </p:nvPicPr>
        <p:blipFill>
          <a:blip r:embed="rId12"/>
          <a:srcRect t="1094" r="8122" b="13318"/>
          <a:stretch>
            <a:fillRect/>
          </a:stretch>
        </p:blipFill>
        <p:spPr>
          <a:xfrm>
            <a:off x="7730067" y="4438650"/>
            <a:ext cx="4453467" cy="2333625"/>
          </a:xfrm>
          <a:prstGeom prst="rect">
            <a:avLst/>
          </a:prstGeom>
          <a:noFill/>
          <a:ln w="9525">
            <a:noFill/>
          </a:ln>
        </p:spPr>
      </p:pic>
      <p:sp>
        <p:nvSpPr>
          <p:cNvPr id="1028" name="Rectangle 4"/>
          <p:cNvSpPr/>
          <p:nvPr>
            <p:ph type="title"/>
          </p:nvPr>
        </p:nvSpPr>
        <p:spPr>
          <a:xfrm>
            <a:off x="609600" y="274638"/>
            <a:ext cx="109728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5"/>
          <p:cNvSpPr/>
          <p:nvPr>
            <p:ph type="body" idx="1"/>
          </p:nvPr>
        </p:nvSpPr>
        <p:spPr>
          <a:xfrm>
            <a:off x="609600" y="1600200"/>
            <a:ext cx="109728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0" name="Rectangle 6"/>
          <p:cNvSpPr>
            <a:spLocks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1" name="Rectangle 7"/>
          <p:cNvSpPr>
            <a:spLocks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2" name="Rectangle 8"/>
          <p:cNvSpPr>
            <a:spLocks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ppt_x</p:attrName>
                                        </p:attrNameLst>
                                      </p:cBhvr>
                                      <p:tavLst>
                                        <p:tav tm="0">
                                          <p:val>
                                            <p:strVal val="#ppt_x-.2"/>
                                          </p:val>
                                        </p:tav>
                                        <p:tav tm="100000">
                                          <p:val>
                                            <p:strVal val="#ppt_x"/>
                                          </p:val>
                                        </p:tav>
                                      </p:tavLst>
                                    </p:anim>
                                    <p:anim calcmode="lin" valueType="num">
                                      <p:cBhvr>
                                        <p:cTn id="8" dur="1000" fill="hold"/>
                                        <p:tgtEl>
                                          <p:spTgt spid="1026"/>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2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1028"/>
                                        </p:tgtEl>
                                        <p:attrNameLst>
                                          <p:attrName>style.visibility</p:attrName>
                                        </p:attrNameLst>
                                      </p:cBhvr>
                                      <p:to>
                                        <p:strVal val="visible"/>
                                      </p:to>
                                    </p:set>
                                    <p:anim calcmode="lin" valueType="num">
                                      <p:cBhvr>
                                        <p:cTn id="12" dur="1000" fill="hold"/>
                                        <p:tgtEl>
                                          <p:spTgt spid="1028"/>
                                        </p:tgtEl>
                                        <p:attrNameLst>
                                          <p:attrName>ppt_x</p:attrName>
                                        </p:attrNameLst>
                                      </p:cBhvr>
                                      <p:tavLst>
                                        <p:tav tm="0">
                                          <p:val>
                                            <p:strVal val="#ppt_x-.2"/>
                                          </p:val>
                                        </p:tav>
                                        <p:tav tm="100000">
                                          <p:val>
                                            <p:strVal val="#ppt_x"/>
                                          </p:val>
                                        </p:tav>
                                      </p:tavLst>
                                    </p:anim>
                                    <p:anim calcmode="lin" valueType="num">
                                      <p:cBhvr>
                                        <p:cTn id="13" dur="1000" fill="hold"/>
                                        <p:tgtEl>
                                          <p:spTgt spid="102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ldLvl="0" animBg="1"/>
      <p:bldP spid="1028" grpId="0" bldLvl="0"/>
    </p:bldLst>
  </p:timing>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p:sp>
        <p:nvSpPr>
          <p:cNvPr id="2" name="Title 1"/>
          <p:cNvSpPr>
            <a:spLocks noGrp="1"/>
          </p:cNvSpPr>
          <p:nvPr>
            <p:ph type="ctrTitle"/>
          </p:nvPr>
        </p:nvSpPr>
        <p:spPr>
          <a:xfrm>
            <a:off x="0" y="3289300"/>
            <a:ext cx="12191365" cy="1037590"/>
          </a:xfrm>
          <a:solidFill>
            <a:schemeClr val="accent1">
              <a:lumMod val="20000"/>
              <a:lumOff val="80000"/>
            </a:schemeClr>
          </a:solidFill>
          <a:ln w="12700" cmpd="sng">
            <a:solidFill>
              <a:schemeClr val="accent1">
                <a:shade val="50000"/>
              </a:schemeClr>
            </a:solidFill>
            <a:prstDash val="solid"/>
          </a:ln>
        </p:spPr>
        <p:txBody>
          <a:bodyPr/>
          <a:p>
            <a:pPr algn="l" fontAlgn="ctr"/>
            <a:r>
              <a:rPr lang="en-US" altLang="en-GB" sz="4800" b="1">
                <a:solidFill>
                  <a:schemeClr val="tx1">
                    <a:lumMod val="95000"/>
                    <a:lumOff val="5000"/>
                  </a:schemeClr>
                </a:solidFill>
                <a:latin typeface="Arial" panose="020B0604020202020204" pitchFamily="34" charset="0"/>
                <a:cs typeface="Arial" panose="020B0604020202020204" pitchFamily="34" charset="0"/>
                <a:sym typeface="+mn-ea"/>
              </a:rPr>
              <a:t>Real life solution for waste management</a:t>
            </a:r>
            <a:r>
              <a:rPr lang="en-US" altLang="en-GB" sz="4800" b="1">
                <a:ln>
                  <a:solidFill>
                    <a:sysClr val="windowText" lastClr="000000"/>
                  </a:solidFill>
                </a:ln>
                <a:solidFill>
                  <a:schemeClr val="tx1">
                    <a:lumMod val="95000"/>
                    <a:lumOff val="5000"/>
                  </a:schemeClr>
                </a:solidFill>
                <a:latin typeface="Arial" panose="020B0604020202020204" pitchFamily="34" charset="0"/>
                <a:cs typeface="Arial" panose="020B0604020202020204" pitchFamily="34" charset="0"/>
              </a:rPr>
              <a:t>   </a:t>
            </a:r>
            <a:endParaRPr lang="en-US" altLang="en-GB" sz="4800" b="1">
              <a:ln>
                <a:solidFill>
                  <a:sysClr val="windowText" lastClr="000000"/>
                </a:solidFill>
              </a:ln>
              <a:solidFill>
                <a:schemeClr val="tx1">
                  <a:lumMod val="95000"/>
                  <a:lumOff val="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0"/>
            <a:ext cx="12191365" cy="6928485"/>
          </a:xfrm>
          <a:solidFill>
            <a:schemeClr val="accent1">
              <a:lumMod val="20000"/>
              <a:lumOff val="80000"/>
            </a:schemeClr>
          </a:solidFill>
          <a:ln>
            <a:solidFill>
              <a:schemeClr val="accent1"/>
            </a:solidFill>
          </a:ln>
        </p:spPr>
        <p:txBody>
          <a:bodyPr>
            <a:normAutofit fontScale="90000"/>
          </a:bodyPr>
          <a:p>
            <a:pPr marL="571500" indent="-571500" algn="ctr">
              <a:lnSpc>
                <a:spcPct val="120000"/>
              </a:lnSpc>
              <a:buFont typeface="Wingdings" panose="05000000000000000000" charset="0"/>
              <a:buChar char="q"/>
            </a:pPr>
            <a:r>
              <a:rPr lang="en-US" altLang="en-GB" sz="4445" b="1"/>
              <a:t>What is Waste Management? </a:t>
            </a:r>
            <a:r>
              <a:rPr lang="en-US" altLang="en-GB" sz="4000"/>
              <a:t> </a:t>
            </a:r>
            <a:r>
              <a:rPr lang="en-US" altLang="en-GB" sz="3600"/>
              <a:t>  </a:t>
            </a:r>
            <a:r>
              <a:rPr lang="en-US" altLang="en-GB" sz="2800"/>
              <a:t>                                                             </a:t>
            </a:r>
            <a:r>
              <a:rPr lang="en-US" altLang="en-GB" sz="4000"/>
              <a:t>Waste Management is the process of collecting, transporting, processing, recycling, and disposing of waste materials efficiently.</a:t>
            </a:r>
            <a:br>
              <a:rPr lang="en-US" altLang="en-GB" sz="4000"/>
            </a:br>
            <a:r>
              <a:rPr lang="en-US" altLang="en-GB" sz="2800"/>
              <a:t>                                                                                                                          </a:t>
            </a:r>
            <a:r>
              <a:rPr lang="en-US" altLang="en-GB" sz="4000" b="1"/>
              <a:t>Need for the Project</a:t>
            </a:r>
            <a:br>
              <a:rPr lang="en-US" altLang="en-GB" sz="3600" b="1"/>
            </a:br>
            <a:r>
              <a:rPr lang="en-US" altLang="en-GB" sz="4000"/>
              <a:t>Increasing garbage in urban areas</a:t>
            </a:r>
            <a:br>
              <a:rPr lang="en-US" altLang="en-GB" sz="4000"/>
            </a:br>
            <a:r>
              <a:rPr lang="en-US" altLang="en-GB" sz="4000"/>
              <a:t>Overflowing waste bins</a:t>
            </a:r>
            <a:br>
              <a:rPr lang="en-US" altLang="en-GB" sz="4000"/>
            </a:br>
            <a:r>
              <a:rPr lang="en-US" altLang="en-GB" sz="4000"/>
              <a:t>Delayed complaint resolution</a:t>
            </a:r>
            <a:br>
              <a:rPr lang="en-US" altLang="en-GB" sz="4000"/>
            </a:br>
            <a:r>
              <a:rPr lang="en-US" altLang="en-GB" sz="4000"/>
              <a:t>Environmental pollution</a:t>
            </a:r>
            <a:endParaRPr lang="en-US" altLang="en-GB" sz="4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6858000"/>
          </a:xfrm>
          <a:solidFill>
            <a:schemeClr val="accent1">
              <a:lumMod val="20000"/>
              <a:lumOff val="80000"/>
            </a:schemeClr>
          </a:solidFill>
        </p:spPr>
        <p:txBody>
          <a:bodyPr/>
          <a:p>
            <a:pPr marL="685800" indent="-685800" algn="ctr">
              <a:lnSpc>
                <a:spcPct val="120000"/>
              </a:lnSpc>
              <a:buFont typeface="Wingdings" panose="05000000000000000000" charset="0"/>
              <a:buChar char="q"/>
            </a:pPr>
            <a:r>
              <a:rPr lang="en-US" altLang="en-GB" b="1"/>
              <a:t>Problem Statement</a:t>
            </a:r>
            <a:br>
              <a:rPr lang="en-US" altLang="en-GB"/>
            </a:br>
            <a:r>
              <a:rPr lang="en-US" altLang="en-GB" sz="4000" b="1"/>
              <a:t>Existing System</a:t>
            </a:r>
            <a:br>
              <a:rPr lang="en-US" altLang="en-GB" sz="4000" b="1"/>
            </a:br>
            <a:r>
              <a:rPr lang="en-US" altLang="en-GB" sz="3600"/>
              <a:t>Manual garbage monitoring</a:t>
            </a:r>
            <a:br>
              <a:rPr lang="en-US" altLang="en-GB" sz="3600"/>
            </a:br>
            <a:r>
              <a:rPr lang="en-US" altLang="en-GB" sz="3600"/>
              <a:t>Delayed waste collection</a:t>
            </a:r>
            <a:br>
              <a:rPr lang="en-US" altLang="en-GB" sz="3600"/>
            </a:br>
            <a:r>
              <a:rPr lang="en-US" altLang="en-GB" sz="3600"/>
              <a:t>No proper complaint tracking</a:t>
            </a:r>
            <a:br>
              <a:rPr lang="en-US" altLang="en-GB" sz="3600"/>
            </a:br>
            <a:r>
              <a:rPr lang="en-US" altLang="en-GB" sz="3600"/>
              <a:t>Inefficient resource management</a:t>
            </a:r>
            <a:br>
              <a:rPr lang="en-US" altLang="en-GB" sz="3600"/>
            </a:br>
            <a:r>
              <a:rPr lang="en-US" altLang="en-GB" sz="3600"/>
              <a:t>                                                                                          </a:t>
            </a:r>
            <a:r>
              <a:rPr lang="en-US" altLang="en-GB" sz="4000" b="1"/>
              <a:t>Proposed System</a:t>
            </a:r>
            <a:br>
              <a:rPr lang="en-US" altLang="en-GB" b="1"/>
            </a:br>
            <a:r>
              <a:rPr lang="en-US" altLang="en-GB" sz="3200"/>
              <a:t>A digital platform for reporting, monitoring,                                                                                              and managing waste complaints efficiently.</a:t>
            </a:r>
            <a:endParaRPr lang="en-US" altLang="en-GB" sz="3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4" name="Title 3"/>
          <p:cNvSpPr/>
          <p:nvPr>
            <p:ph type="title"/>
          </p:nvPr>
        </p:nvSpPr>
        <p:spPr>
          <a:xfrm>
            <a:off x="0" y="0"/>
            <a:ext cx="12192000" cy="6858000"/>
          </a:xfrm>
          <a:solidFill>
            <a:schemeClr val="accent1">
              <a:lumMod val="20000"/>
              <a:lumOff val="80000"/>
            </a:schemeClr>
          </a:solidFill>
        </p:spPr>
        <p:txBody>
          <a:bodyPr/>
          <a:p>
            <a:pPr marL="685800" indent="-685800">
              <a:buFont typeface="Wingdings" panose="05000000000000000000" charset="0"/>
              <a:buChar char="q"/>
            </a:pPr>
            <a:r>
              <a:rPr lang="en-US" altLang="en-GB" sz="5400" b="1"/>
              <a:t>Objectives</a:t>
            </a:r>
            <a:br>
              <a:rPr lang="en-US" altLang="en-GB" sz="5400" b="1"/>
            </a:br>
            <a:r>
              <a:rPr lang="en-US" altLang="en-GB" sz="4000"/>
              <a:t>Improve waste collection efficiency</a:t>
            </a:r>
            <a:br>
              <a:rPr lang="en-US" altLang="en-GB" sz="4000"/>
            </a:br>
            <a:r>
              <a:rPr lang="en-US" altLang="en-GB" sz="4000"/>
              <a:t>Reduce environmental pollution</a:t>
            </a:r>
            <a:br>
              <a:rPr lang="en-US" altLang="en-GB" sz="4000"/>
            </a:br>
            <a:r>
              <a:rPr lang="en-US" altLang="en-GB" sz="4000"/>
              <a:t>Enable online complaint registration</a:t>
            </a:r>
            <a:br>
              <a:rPr lang="en-US" altLang="en-GB" sz="4000"/>
            </a:br>
            <a:r>
              <a:rPr lang="en-US" altLang="en-GB" sz="4000"/>
              <a:t>Track complaint status</a:t>
            </a:r>
            <a:br>
              <a:rPr lang="en-US" altLang="en-GB" sz="4000"/>
            </a:br>
            <a:r>
              <a:rPr lang="en-US" altLang="en-GB" sz="4000"/>
              <a:t>Maintain cleanliness in public areas</a:t>
            </a:r>
            <a:endParaRPr lang="en-US" altLang="en-GB" sz="4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marL="571500" indent="-571500">
              <a:buFont typeface="Wingdings" panose="05000000000000000000" charset="0"/>
              <a:buChar char="q"/>
            </a:pPr>
            <a:r>
              <a:rPr lang="en-US" altLang="en-GB" b="1"/>
              <a:t>ER DIAGRAM</a:t>
            </a:r>
            <a:endParaRPr lang="en-US" altLang="en-GB" b="1"/>
          </a:p>
        </p:txBody>
      </p:sp>
      <p:pic>
        <p:nvPicPr>
          <p:cNvPr id="4" name="Content Placeholder 3" descr="ER diagram"/>
          <p:cNvPicPr>
            <a:picLocks noChangeAspect="1"/>
          </p:cNvPicPr>
          <p:nvPr>
            <p:ph idx="1"/>
          </p:nvPr>
        </p:nvPicPr>
        <p:blipFill>
          <a:blip r:embed="rId1"/>
          <a:stretch>
            <a:fillRect/>
          </a:stretch>
        </p:blipFill>
        <p:spPr>
          <a:xfrm>
            <a:off x="4165600" y="1494790"/>
            <a:ext cx="4305935" cy="52838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marL="571500" indent="-571500">
              <a:buFont typeface="Wingdings" panose="05000000000000000000" charset="0"/>
              <a:buChar char="q"/>
            </a:pPr>
            <a:r>
              <a:rPr lang="en-US" altLang="en-GB"/>
              <a:t>User case diagram</a:t>
            </a:r>
            <a:endParaRPr lang="en-US" altLang="en-GB"/>
          </a:p>
        </p:txBody>
      </p:sp>
      <p:pic>
        <p:nvPicPr>
          <p:cNvPr id="4" name="Content Placeholder 3" descr="User diagram"/>
          <p:cNvPicPr>
            <a:picLocks noChangeAspect="1"/>
          </p:cNvPicPr>
          <p:nvPr>
            <p:ph idx="1"/>
          </p:nvPr>
        </p:nvPicPr>
        <p:blipFill>
          <a:blip r:embed="rId1"/>
          <a:stretch>
            <a:fillRect/>
          </a:stretch>
        </p:blipFill>
        <p:spPr>
          <a:xfrm>
            <a:off x="2701290" y="1600200"/>
            <a:ext cx="7374890" cy="48031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272030"/>
            <a:ext cx="10972800" cy="1905635"/>
          </a:xfrm>
        </p:spPr>
        <p:txBody>
          <a:bodyPr/>
          <a:p>
            <a:r>
              <a:rPr lang="en-US" altLang="en-GB" sz="6000" b="1">
                <a:solidFill>
                  <a:schemeClr val="tx1"/>
                </a:solidFill>
              </a:rPr>
              <a:t>Thank You</a:t>
            </a:r>
            <a:endParaRPr lang="en-US" altLang="en-GB" sz="6000" b="1">
              <a:solidFill>
                <a:schemeClr val="tx1"/>
              </a:solidFill>
            </a:endParaRPr>
          </a:p>
        </p:txBody>
      </p:sp>
      <p:sp>
        <p:nvSpPr>
          <p:cNvPr id="4" name="Text Box 3"/>
          <p:cNvSpPr txBox="1"/>
          <p:nvPr/>
        </p:nvSpPr>
        <p:spPr>
          <a:xfrm>
            <a:off x="0" y="0"/>
            <a:ext cx="15006955" cy="6857365"/>
          </a:xfrm>
          <a:prstGeom prst="rect">
            <a:avLst/>
          </a:prstGeom>
          <a:noFill/>
        </p:spPr>
        <p:txBody>
          <a:bodyPr wrap="square" rtlCol="0">
            <a:noAutofit/>
          </a:bodyPr>
          <a:p>
            <a:endParaRPr lang="en-GB" altLang="en-US">
              <a:ln>
                <a:solidFill>
                  <a:schemeClr val="accent1">
                    <a:lumMod val="20000"/>
                    <a:lumOff val="80000"/>
                  </a:schemeClr>
                </a:solidFill>
              </a:ln>
              <a:solidFill>
                <a:schemeClr val="accent1">
                  <a:lumMod val="20000"/>
                  <a:lumOff val="80000"/>
                </a:schemeClr>
              </a:solidFill>
            </a:endParaRPr>
          </a:p>
        </p:txBody>
      </p:sp>
    </p:spTree>
  </p:cSld>
  <p:clrMapOvr>
    <a:masterClrMapping/>
  </p:clrMapOvr>
</p:sld>
</file>

<file path=ppt/theme/theme1.xml><?xml version="1.0" encoding="utf-8"?>
<a:theme xmlns:a="http://schemas.openxmlformats.org/drawingml/2006/main" name="Business Cooperate">
  <a:themeElements>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siness Cooperate">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usiness Cooper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usiness Cooper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usiness Cooper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usiness Cooper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usiness Cooper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usiness Cooper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usiness Cooper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usiness Cooper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usiness Cooper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usiness Cooper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usiness Cooper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1157</Words>
  <Application>WPS Presentation</Application>
  <PresentationFormat>Widescreen</PresentationFormat>
  <Paragraphs>14</Paragraphs>
  <Slides>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Arial</vt:lpstr>
      <vt:lpstr>SimSun</vt:lpstr>
      <vt:lpstr>Wingdings</vt:lpstr>
      <vt:lpstr>Wingdings</vt:lpstr>
      <vt:lpstr>Microsoft YaHei</vt:lpstr>
      <vt:lpstr>Arial Unicode MS</vt:lpstr>
      <vt:lpstr>Calibri</vt:lpstr>
      <vt:lpstr>Business Cooperate</vt:lpstr>
      <vt:lpstr>Real life solution for waste management   </vt:lpstr>
      <vt:lpstr>What is Waste Management?                                                                 Waste Management is the process of collecting, transporting, processing, recycling, and disposing of waste materials efficiently.                                                                                                                           Need for the Project Increasing garbage in urban areas Overflowing waste bins Delayed complaint resolution Environmental pollution</vt:lpstr>
      <vt:lpstr>Problem Statement Existing System Manual garbage monitoring Delayed waste collection No proper complaint tracking Inefficient resource management                                                                                           Proposed System A digital platform for reporting, monitoring,                                                                                              and managing waste complaints efficiently.</vt:lpstr>
      <vt:lpstr>Objectives Improve waste collection efficiency Reduce environmental pollution Enable online complaint registration Track complaint status Maintain cleanliness in public areas</vt:lpstr>
      <vt:lpstr>ER DIAGRAM</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pc</dc:creator>
  <cp:lastModifiedBy>Porkala P</cp:lastModifiedBy>
  <cp:revision>9</cp:revision>
  <dcterms:created xsi:type="dcterms:W3CDTF">2025-07-23T00:59:00Z</dcterms:created>
  <dcterms:modified xsi:type="dcterms:W3CDTF">2026-06-13T06:04:45Z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93904215BA5940D1B78144763026BE09_11</vt:lpwstr>
  </property>
  <property fmtid="{D5CDD505-2E9C-101B-9397-08002B2CF9AE}" pid="3" name="KSOProductBuildVer">
    <vt:lpwstr>2057-12.2.0.23202</vt:lpwstr>
  </property>
</Properties>
</file>